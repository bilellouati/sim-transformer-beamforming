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8" r:id="rId3"/>
    <p:sldId id="267" r:id="rId4"/>
    <p:sldId id="264" r:id="rId5"/>
    <p:sldId id="265" r:id="rId6"/>
    <p:sldId id="261" r:id="rId7"/>
    <p:sldId id="262" r:id="rId8"/>
    <p:sldId id="257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BC3CC-86FC-4B78-8695-1B4D7843B3B4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899D0-82B7-42EC-8ADA-9C382799C25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6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134-635A-4290-8EC7-552BE1A3538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219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d(t) est complètement </a:t>
            </a:r>
            <a:r>
              <a:rPr lang="fr-FR" dirty="0" err="1" smtClean="0"/>
              <a:t>décorrélé</a:t>
            </a:r>
            <a:r>
              <a:rPr lang="fr-FR" dirty="0" smtClean="0"/>
              <a:t> du signal utile i(t),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7899D0-82B7-42EC-8ADA-9C382799C2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4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7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2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6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3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2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6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9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9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4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01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re image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Titre CEA-Leti 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210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629240"/>
            <a:ext cx="12192000" cy="720000"/>
          </a:xfrm>
          <a:prstGeom prst="rect">
            <a:avLst/>
          </a:prstGeom>
          <a:gradFill flip="none" rotWithShape="1">
            <a:gsLst>
              <a:gs pos="0">
                <a:srgbClr val="0A6E28">
                  <a:lumMod val="100000"/>
                </a:srgbClr>
              </a:gs>
              <a:gs pos="40000">
                <a:srgbClr val="91C30A">
                  <a:alpha val="8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5" name="Espace réservé du pied de page 12"/>
          <p:cNvSpPr>
            <a:spLocks noGrp="1"/>
          </p:cNvSpPr>
          <p:nvPr>
            <p:ph type="ftr" sz="quarter" idx="16"/>
          </p:nvPr>
        </p:nvSpPr>
        <p:spPr>
          <a:xfrm>
            <a:off x="4751851" y="5358358"/>
            <a:ext cx="6972789" cy="184666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 cap="none" baseline="0">
                <a:solidFill>
                  <a:schemeClr val="accent5"/>
                </a:solidFill>
              </a:defRPr>
            </a:lvl1pPr>
          </a:lstStyle>
          <a:p>
            <a:pPr algn="r"/>
            <a:r>
              <a:rPr lang="fr-FR" dirty="0" smtClean="0"/>
              <a:t>Nom événement | Nom Prénom | Date</a:t>
            </a:r>
            <a:endParaRPr lang="fr-FR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750000"/>
            <a:ext cx="12191996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8" name="Espace réservé pour une image  2"/>
          <p:cNvSpPr>
            <a:spLocks noGrp="1"/>
          </p:cNvSpPr>
          <p:nvPr>
            <p:ph type="pic" sz="quarter" idx="17"/>
          </p:nvPr>
        </p:nvSpPr>
        <p:spPr>
          <a:xfrm>
            <a:off x="5591944" y="376089"/>
            <a:ext cx="1716509" cy="1396727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lvl1pPr algn="l">
              <a:defRPr sz="800" b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Cliquez sur l'icône pour ajouter une image</a:t>
            </a:r>
            <a:endParaRPr lang="fr-FR" dirty="0"/>
          </a:p>
        </p:txBody>
      </p:sp>
      <p:sp>
        <p:nvSpPr>
          <p:cNvPr id="9" name="Espace réservé pour une image  4"/>
          <p:cNvSpPr>
            <a:spLocks noGrp="1"/>
          </p:cNvSpPr>
          <p:nvPr>
            <p:ph type="pic" sz="quarter" idx="18"/>
          </p:nvPr>
        </p:nvSpPr>
        <p:spPr>
          <a:xfrm>
            <a:off x="7680176" y="1772816"/>
            <a:ext cx="4149874" cy="2427709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lvl1pPr algn="l">
              <a:defRPr lang="fr-FR" sz="800" b="0">
                <a:solidFill>
                  <a:schemeClr val="accent5"/>
                </a:solidFill>
              </a:defRPr>
            </a:lvl1pPr>
          </a:lstStyle>
          <a:p>
            <a:pPr lvl="0" algn="ctr"/>
            <a:r>
              <a:rPr lang="fr-FR" smtClean="0"/>
              <a:t>Cliquez sur l'icône pour ajouter une image</a:t>
            </a:r>
            <a:endParaRPr lang="fr-FR" dirty="0"/>
          </a:p>
        </p:txBody>
      </p:sp>
      <p:sp>
        <p:nvSpPr>
          <p:cNvPr id="11" name="Titre 1"/>
          <p:cNvSpPr>
            <a:spLocks noGrp="1"/>
          </p:cNvSpPr>
          <p:nvPr>
            <p:ph type="ctrTitle"/>
          </p:nvPr>
        </p:nvSpPr>
        <p:spPr>
          <a:xfrm>
            <a:off x="1" y="4629240"/>
            <a:ext cx="11704320" cy="72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lnSpc>
                <a:spcPts val="2400"/>
              </a:lnSpc>
              <a:defRPr sz="2400" b="1" cap="all" baseline="0">
                <a:solidFill>
                  <a:schemeClr val="bg2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1496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166484"/>
            <a:ext cx="12192000" cy="273529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087938" y="1612083"/>
            <a:ext cx="1397562" cy="677108"/>
          </a:xfrm>
          <a:solidFill>
            <a:schemeClr val="tx2"/>
          </a:solidFill>
        </p:spPr>
        <p:txBody>
          <a:bodyPr wrap="none" tIns="0" bIns="0" anchor="ctr" anchorCtr="0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087937" y="2441338"/>
            <a:ext cx="3730508" cy="677108"/>
          </a:xfrm>
          <a:solidFill>
            <a:schemeClr val="tx2"/>
          </a:solidFill>
        </p:spPr>
        <p:txBody>
          <a:bodyPr wrap="none" tIns="0" bIns="0" anchor="ctr" anchorCtr="0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sur plusieurs</a:t>
            </a:r>
            <a:endParaRPr lang="fr-FR" dirty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5087937" y="3220129"/>
            <a:ext cx="1872159" cy="676800"/>
          </a:xfrm>
          <a:solidFill>
            <a:schemeClr val="tx2"/>
          </a:solidFill>
        </p:spPr>
        <p:txBody>
          <a:bodyPr wrap="none" tIns="0" bIns="0" anchor="ctr" anchorCtr="0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lignes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5087937" y="4020423"/>
            <a:ext cx="3600351" cy="676800"/>
          </a:xfrm>
          <a:solidFill>
            <a:schemeClr val="tx2"/>
          </a:solidFill>
        </p:spPr>
        <p:txBody>
          <a:bodyPr wrap="none" tIns="0" bIns="0" anchor="ctr" anchorCtr="0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Max 4 lignes</a:t>
            </a:r>
            <a:endParaRPr lang="fr-FR" dirty="0"/>
          </a:p>
        </p:txBody>
      </p:sp>
      <p:sp>
        <p:nvSpPr>
          <p:cNvPr id="13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5087937" y="4851495"/>
            <a:ext cx="3816375" cy="430887"/>
          </a:xfrm>
          <a:solidFill>
            <a:schemeClr val="bg1"/>
          </a:solidFill>
        </p:spPr>
        <p:txBody>
          <a:bodyPr wrap="square" tIns="0" bIns="0" anchor="ctr" anchorCtr="0">
            <a:spAutoFit/>
          </a:bodyPr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 smtClean="0"/>
              <a:t>Prénom Nom Auteur</a:t>
            </a:r>
            <a:endParaRPr lang="fr-FR" dirty="0"/>
          </a:p>
        </p:txBody>
      </p:sp>
      <p:sp>
        <p:nvSpPr>
          <p:cNvPr id="14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5087937" y="5436456"/>
            <a:ext cx="3816375" cy="430887"/>
          </a:xfrm>
          <a:noFill/>
        </p:spPr>
        <p:txBody>
          <a:bodyPr wrap="square" tIns="0" bIns="0" anchor="ctr" anchorCtr="0">
            <a:sp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Fonction</a:t>
            </a:r>
            <a:endParaRPr lang="fr-FR" dirty="0"/>
          </a:p>
        </p:txBody>
      </p:sp>
      <p:sp>
        <p:nvSpPr>
          <p:cNvPr id="15" name="ZoneTexte 14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509978"/>
            <a:ext cx="1656183" cy="135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49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1565172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2552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415480" cy="1196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573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_dispo droit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377500" y="1449000"/>
            <a:ext cx="3780000" cy="17791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kumimoji="0" lang="fr-FR" sz="9600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XX%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7176000" y="3858972"/>
            <a:ext cx="501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r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53" y="4600246"/>
            <a:ext cx="6305848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vert="horz" wrap="none" lIns="180000" tIns="45720" rIns="180000" bIns="45720" rtlCol="0">
            <a:spAutoFit/>
          </a:bodyPr>
          <a:lstStyle>
            <a:lvl1pPr algn="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7160540" y="5341520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r">
              <a:defRPr kumimoji="0" lang="fr-FR" sz="320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71450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 ou selon visibilité du chiffre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1449" y="-2781201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 ou droit)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Espace réservé du texte 21"/>
          <p:cNvSpPr>
            <a:spLocks noGrp="1"/>
          </p:cNvSpPr>
          <p:nvPr>
            <p:ph type="body" sz="quarter" idx="30" hasCustomPrompt="1"/>
          </p:nvPr>
        </p:nvSpPr>
        <p:spPr>
          <a:xfrm>
            <a:off x="1377951" y="3280278"/>
            <a:ext cx="3779550" cy="3254790"/>
          </a:xfrm>
        </p:spPr>
        <p:txBody>
          <a:bodyPr wrap="square" lIns="0" tIns="180000" rIns="0" bIns="0"/>
          <a:lstStyle>
            <a:lvl1pPr>
              <a:defRPr b="0" baseline="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 b="0">
                <a:solidFill>
                  <a:schemeClr val="bg1"/>
                </a:solidFill>
              </a:defRPr>
            </a:lvl3pPr>
            <a:lvl4pPr>
              <a:defRPr b="0"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smtClean="0"/>
              <a:t>Légende, pensez </a:t>
            </a:r>
            <a:br>
              <a:rPr lang="fr-FR" dirty="0" smtClean="0"/>
            </a:br>
            <a:r>
              <a:rPr lang="fr-FR" dirty="0" smtClean="0"/>
              <a:t>à citer la source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85399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_dispo gauch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8058150" y="1449000"/>
            <a:ext cx="3780000" cy="17791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kumimoji="0" lang="fr-FR" sz="9600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XX%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-8550" y="3858972"/>
            <a:ext cx="501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l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-8550" y="4600246"/>
            <a:ext cx="6305848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vert="horz" wrap="none" lIns="180000" tIns="45720" rIns="180000" bIns="45720" rtlCol="0">
            <a:spAutoFit/>
          </a:bodyPr>
          <a:lstStyle>
            <a:lvl1pPr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-8550" y="5341520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l">
              <a:defRPr kumimoji="0" lang="fr-FR" sz="320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71450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 ou selon visibilité du chiffre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1449" y="-2781201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 ou droit)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Espace réservé du texte 21"/>
          <p:cNvSpPr>
            <a:spLocks noGrp="1"/>
          </p:cNvSpPr>
          <p:nvPr>
            <p:ph type="body" sz="quarter" idx="30" hasCustomPrompt="1"/>
          </p:nvPr>
        </p:nvSpPr>
        <p:spPr>
          <a:xfrm>
            <a:off x="8058601" y="3280277"/>
            <a:ext cx="3779550" cy="3282447"/>
          </a:xfrm>
        </p:spPr>
        <p:txBody>
          <a:bodyPr wrap="square" lIns="0" tIns="180000" rIns="0" bIns="0"/>
          <a:lstStyle>
            <a:lvl1pPr>
              <a:defRPr b="0" baseline="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 b="0">
                <a:solidFill>
                  <a:schemeClr val="bg1"/>
                </a:solidFill>
              </a:defRPr>
            </a:lvl3pPr>
            <a:lvl4pPr>
              <a:defRPr b="0"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smtClean="0"/>
              <a:t>Légende, pensez </a:t>
            </a:r>
            <a:br>
              <a:rPr lang="fr-FR" dirty="0" smtClean="0"/>
            </a:br>
            <a:r>
              <a:rPr lang="fr-FR" dirty="0" smtClean="0"/>
              <a:t>à citer la source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4772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_tech_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4994188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6255788" y="1608913"/>
            <a:ext cx="5760000" cy="468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9" hasCustomPrompt="1"/>
          </p:nvPr>
        </p:nvSpPr>
        <p:spPr>
          <a:xfrm>
            <a:off x="171450" y="2788376"/>
            <a:ext cx="5756275" cy="1639887"/>
          </a:xfrm>
          <a:prstGeom prst="rect">
            <a:avLst/>
          </a:prstGeom>
        </p:spPr>
        <p:txBody>
          <a:bodyPr lIns="0" tIns="0" rIns="0" bIns="180000" anchor="b" anchorCtr="0"/>
          <a:lstStyle>
            <a:lvl1pPr>
              <a:defRPr sz="24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dirty="0" smtClean="0"/>
              <a:t>Plus-value de la solution </a:t>
            </a:r>
            <a:br>
              <a:rPr lang="fr-FR" dirty="0" smtClean="0"/>
            </a:br>
            <a:r>
              <a:rPr lang="fr-FR" dirty="0" smtClean="0"/>
              <a:t>en une phrase clé : 3 lignes max (soigner les retours à la ligne)</a:t>
            </a:r>
            <a:endParaRPr lang="fr-FR" dirty="0"/>
          </a:p>
        </p:txBody>
      </p:sp>
      <p:sp>
        <p:nvSpPr>
          <p:cNvPr id="23" name="ZoneTexte 22"/>
          <p:cNvSpPr txBox="1"/>
          <p:nvPr userDrawn="1"/>
        </p:nvSpPr>
        <p:spPr>
          <a:xfrm>
            <a:off x="7356000" y="-1660583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4428264"/>
            <a:ext cx="5756275" cy="2134462"/>
          </a:xfrm>
          <a:prstGeom prst="rect">
            <a:avLst/>
          </a:prstGeom>
        </p:spPr>
        <p:txBody>
          <a:bodyPr lIns="0" tIns="180000" rIns="0" bIns="0"/>
          <a:lstStyle>
            <a:lvl1pPr marL="171450" indent="-171450" algn="l">
              <a:buClr>
                <a:schemeClr val="tx2"/>
              </a:buClr>
              <a:buFont typeface="Avenir LT Std 65 Medium" panose="020B0603020203020204" pitchFamily="34" charset="0"/>
              <a:buChar char="›"/>
              <a:defRPr sz="2000" b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Caractéristiques principales</a:t>
            </a:r>
          </a:p>
        </p:txBody>
      </p:sp>
    </p:spTree>
    <p:extLst>
      <p:ext uri="{BB962C8B-B14F-4D97-AF65-F5344CB8AC3E}">
        <p14:creationId xmlns:p14="http://schemas.microsoft.com/office/powerpoint/2010/main" val="3113857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_tech_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4994188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206490" y="1608913"/>
            <a:ext cx="5760000" cy="468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9" hasCustomPrompt="1"/>
          </p:nvPr>
        </p:nvSpPr>
        <p:spPr>
          <a:xfrm>
            <a:off x="6259513" y="2788376"/>
            <a:ext cx="5756275" cy="1639887"/>
          </a:xfrm>
          <a:prstGeom prst="rect">
            <a:avLst/>
          </a:prstGeom>
        </p:spPr>
        <p:txBody>
          <a:bodyPr lIns="0" tIns="0" rIns="0" bIns="180000" anchor="b" anchorCtr="0"/>
          <a:lstStyle>
            <a:lvl1pPr algn="l">
              <a:defRPr sz="24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dirty="0" smtClean="0"/>
              <a:t>Plus-value de la solution </a:t>
            </a:r>
            <a:br>
              <a:rPr lang="fr-FR" dirty="0" smtClean="0"/>
            </a:br>
            <a:r>
              <a:rPr lang="fr-FR" dirty="0" smtClean="0"/>
              <a:t>en une phrase clé : 3 lignes max (soigner les retours à la ligne)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7356000" y="-1660583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6259514" y="4428264"/>
            <a:ext cx="5756274" cy="2134462"/>
          </a:xfrm>
          <a:prstGeom prst="rect">
            <a:avLst/>
          </a:prstGeom>
        </p:spPr>
        <p:txBody>
          <a:bodyPr lIns="0" tIns="180000" rIns="0" bIns="0"/>
          <a:lstStyle>
            <a:lvl1pPr marL="182563" indent="-182563" algn="l">
              <a:buClr>
                <a:schemeClr val="tx2"/>
              </a:buClr>
              <a:buFont typeface="Avenir LT Std 65 Medium" panose="020B0603020203020204" pitchFamily="34" charset="0"/>
              <a:buChar char="›"/>
              <a:defRPr sz="2000" b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Caractéristiques principales</a:t>
            </a:r>
          </a:p>
        </p:txBody>
      </p:sp>
    </p:spTree>
    <p:extLst>
      <p:ext uri="{BB962C8B-B14F-4D97-AF65-F5344CB8AC3E}">
        <p14:creationId xmlns:p14="http://schemas.microsoft.com/office/powerpoint/2010/main" val="2832851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_tech_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4994188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206490" y="1268760"/>
            <a:ext cx="11809298" cy="5293965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7356000" y="-1660583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068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lig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space réservé pour une image  37"/>
          <p:cNvSpPr>
            <a:spLocks noGrp="1"/>
          </p:cNvSpPr>
          <p:nvPr>
            <p:ph type="pic" sz="quarter" idx="28" hasCustomPrompt="1"/>
          </p:nvPr>
        </p:nvSpPr>
        <p:spPr>
          <a:xfrm>
            <a:off x="5732599" y="590692"/>
            <a:ext cx="6468109" cy="6149742"/>
          </a:xfrm>
          <a:prstGeom prst="rect">
            <a:avLst/>
          </a:prstGeom>
          <a:effectLst>
            <a:softEdge rad="317500"/>
          </a:effectLst>
        </p:spPr>
        <p:txBody>
          <a:bodyPr/>
          <a:lstStyle>
            <a:lvl1pPr algn="ctr">
              <a:defRPr b="0">
                <a:solidFill>
                  <a:srgbClr val="00B0F0"/>
                </a:solidFill>
              </a:defRPr>
            </a:lvl1pPr>
          </a:lstStyle>
          <a:p>
            <a:r>
              <a:rPr lang="fr-FR" dirty="0" smtClean="0"/>
              <a:t>Insérer une image sur fond blanc</a:t>
            </a:r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392014" y="2122866"/>
            <a:ext cx="1080000" cy="108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1392014" y="3495933"/>
            <a:ext cx="1080000" cy="108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1392014" y="4930672"/>
            <a:ext cx="1080000" cy="108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2856000" y="2122866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baseline="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2856000" y="3508361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2855999" y="4930673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1603722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7265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colonn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à coins arrondis 12"/>
          <p:cNvSpPr/>
          <p:nvPr userDrawn="1"/>
        </p:nvSpPr>
        <p:spPr>
          <a:xfrm>
            <a:off x="4291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à coins arrondis 15"/>
          <p:cNvSpPr/>
          <p:nvPr userDrawn="1"/>
        </p:nvSpPr>
        <p:spPr>
          <a:xfrm>
            <a:off x="171450" y="2082963"/>
            <a:ext cx="3584575" cy="3395681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à coins arrondis 18"/>
          <p:cNvSpPr/>
          <p:nvPr userDrawn="1"/>
        </p:nvSpPr>
        <p:spPr>
          <a:xfrm>
            <a:off x="8437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402053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063737" y="2309812"/>
            <a:ext cx="1800000" cy="180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5183299" y="2309812"/>
            <a:ext cx="1800000" cy="180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9329299" y="2309812"/>
            <a:ext cx="1800000" cy="18000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1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8437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377500" y="590693"/>
            <a:ext cx="1603722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7156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789261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82881" y="1860344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2881" y="5478643"/>
            <a:ext cx="11800838" cy="1084083"/>
          </a:xfrm>
          <a:prstGeom prst="rect">
            <a:avLst/>
          </a:prstGeom>
        </p:spPr>
        <p:txBody>
          <a:bodyPr lIns="0" tIns="180000" rIns="0" bIns="180000" anchor="ctr" anchorCtr="0"/>
          <a:lstStyle>
            <a:lvl1pPr algn="ctr">
              <a:defRPr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Message clé sous forme d’une phrase synthétique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492041" y="1641732"/>
            <a:ext cx="98167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0" indent="0" algn="ctr">
              <a:buFont typeface="Avenir LT Std 65 Medium" panose="020B0603020203020204" pitchFamily="34" charset="0"/>
              <a:buNone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4306534" y="1860344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18" name="Espace réservé pour une image  2"/>
          <p:cNvSpPr>
            <a:spLocks noGrp="1"/>
          </p:cNvSpPr>
          <p:nvPr>
            <p:ph type="pic" sz="quarter" idx="29" hasCustomPrompt="1"/>
          </p:nvPr>
        </p:nvSpPr>
        <p:spPr>
          <a:xfrm>
            <a:off x="8430188" y="1860344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5610950" y="1641762"/>
            <a:ext cx="99116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31" hasCustomPrompt="1"/>
          </p:nvPr>
        </p:nvSpPr>
        <p:spPr>
          <a:xfrm>
            <a:off x="9734603" y="1641762"/>
            <a:ext cx="99116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406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2"/>
          <p:cNvSpPr>
            <a:spLocks noGrp="1"/>
          </p:cNvSpPr>
          <p:nvPr>
            <p:ph type="pic" sz="quarter" idx="37" hasCustomPrompt="1"/>
          </p:nvPr>
        </p:nvSpPr>
        <p:spPr>
          <a:xfrm>
            <a:off x="9314978" y="1860344"/>
            <a:ext cx="2705152" cy="2891095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789261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82881" y="1860344"/>
            <a:ext cx="2705151" cy="2891095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8596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044617" y="1641732"/>
            <a:ext cx="98167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0" indent="0" algn="ctr">
              <a:buFont typeface="Avenir LT Std 65 Medium" panose="020B0603020203020204" pitchFamily="34" charset="0"/>
              <a:buNone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3211213" y="1860344"/>
            <a:ext cx="2716584" cy="2891095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18" name="Espace réservé pour une image  2"/>
          <p:cNvSpPr>
            <a:spLocks noGrp="1"/>
          </p:cNvSpPr>
          <p:nvPr>
            <p:ph type="pic" sz="quarter" idx="29" hasCustomPrompt="1"/>
          </p:nvPr>
        </p:nvSpPr>
        <p:spPr>
          <a:xfrm>
            <a:off x="6273841" y="1860344"/>
            <a:ext cx="2705152" cy="2891095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4073921" y="1641762"/>
            <a:ext cx="99116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31" hasCustomPrompt="1"/>
          </p:nvPr>
        </p:nvSpPr>
        <p:spPr>
          <a:xfrm>
            <a:off x="7130833" y="1641762"/>
            <a:ext cx="99116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C</a:t>
            </a:r>
            <a:endParaRPr lang="fr-FR" dirty="0"/>
          </a:p>
        </p:txBody>
      </p:sp>
      <p:sp>
        <p:nvSpPr>
          <p:cNvPr id="20" name="Espace réservé du texte 11"/>
          <p:cNvSpPr>
            <a:spLocks noGrp="1"/>
          </p:cNvSpPr>
          <p:nvPr>
            <p:ph type="body" sz="quarter" idx="34" hasCustomPrompt="1"/>
          </p:nvPr>
        </p:nvSpPr>
        <p:spPr>
          <a:xfrm>
            <a:off x="3222645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1" name="Espace réservé du texte 11"/>
          <p:cNvSpPr>
            <a:spLocks noGrp="1"/>
          </p:cNvSpPr>
          <p:nvPr>
            <p:ph type="body" sz="quarter" idx="35" hasCustomPrompt="1"/>
          </p:nvPr>
        </p:nvSpPr>
        <p:spPr>
          <a:xfrm>
            <a:off x="6279557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36" hasCustomPrompt="1"/>
          </p:nvPr>
        </p:nvSpPr>
        <p:spPr>
          <a:xfrm>
            <a:off x="9320694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5" name="Espace réservé du texte 23"/>
          <p:cNvSpPr>
            <a:spLocks noGrp="1"/>
          </p:cNvSpPr>
          <p:nvPr>
            <p:ph type="body" sz="quarter" idx="38" hasCustomPrompt="1"/>
          </p:nvPr>
        </p:nvSpPr>
        <p:spPr>
          <a:xfrm>
            <a:off x="10171969" y="1641762"/>
            <a:ext cx="991170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0026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181100" y="188639"/>
            <a:ext cx="10834688" cy="789261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lang="fr-FR" sz="24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209005" y="1860344"/>
            <a:ext cx="5400000" cy="324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2881" y="5100345"/>
            <a:ext cx="5426124" cy="1462382"/>
          </a:xfrm>
          <a:prstGeom prst="rect">
            <a:avLst/>
          </a:prstGeom>
        </p:spPr>
        <p:txBody>
          <a:bodyPr lIns="0" tIns="180000" rIns="0" bIns="180000" anchor="ctr" anchorCtr="0"/>
          <a:lstStyle>
            <a:lvl1pPr algn="ctr">
              <a:defRPr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complémentaire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2418166" y="1641732"/>
            <a:ext cx="98167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marL="0" indent="0" algn="ctr">
              <a:buFont typeface="Avenir LT Std 65 Medium" panose="020B0603020203020204" pitchFamily="34" charset="0"/>
              <a:buNone/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6615788" y="1860344"/>
            <a:ext cx="5400000" cy="3240000"/>
          </a:xfrm>
          <a:prstGeom prst="roundRect">
            <a:avLst>
              <a:gd name="adj" fmla="val 38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8820204" y="1641762"/>
            <a:ext cx="991169" cy="40011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>
            <a:spAutoFit/>
          </a:bodyPr>
          <a:lstStyle>
            <a:lvl1pPr algn="ctr">
              <a:defRPr kumimoji="0" lang="fr-FR" sz="20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31" hasCustomPrompt="1"/>
          </p:nvPr>
        </p:nvSpPr>
        <p:spPr>
          <a:xfrm>
            <a:off x="6623771" y="5100345"/>
            <a:ext cx="5426124" cy="1462382"/>
          </a:xfrm>
          <a:prstGeom prst="rect">
            <a:avLst/>
          </a:prstGeom>
        </p:spPr>
        <p:txBody>
          <a:bodyPr lIns="0" tIns="180000" rIns="0" bIns="180000" anchor="ctr" anchorCtr="0"/>
          <a:lstStyle>
            <a:lvl1pPr algn="ctr">
              <a:defRPr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complémentaire</a:t>
            </a:r>
          </a:p>
        </p:txBody>
      </p:sp>
    </p:spTree>
    <p:extLst>
      <p:ext uri="{BB962C8B-B14F-4D97-AF65-F5344CB8AC3E}">
        <p14:creationId xmlns:p14="http://schemas.microsoft.com/office/powerpoint/2010/main" val="3228877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droit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7176000" y="3858972"/>
            <a:ext cx="501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r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5736001" y="4600246"/>
            <a:ext cx="645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>
              <a:defRPr kumimoji="0" lang="fr-FR" sz="320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7160540" y="5341520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>
              <a:defRPr kumimoji="0" lang="fr-FR" sz="320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989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gauch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3858972"/>
            <a:ext cx="501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l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617000"/>
            <a:ext cx="6359516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0" y="5375027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371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centr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3588000" y="2850972"/>
            <a:ext cx="5016000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ctr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2916242" y="3609000"/>
            <a:ext cx="6359516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algn="ct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3580270" y="4367027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ct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145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6200000">
            <a:off x="3891169" y="-1540410"/>
            <a:ext cx="4409665" cy="12192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71450" y="3913843"/>
            <a:ext cx="4879175" cy="523220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l">
              <a:buFont typeface="Avenir LT Std 65 Medium" panose="020B0603020203020204" pitchFamily="34" charset="0"/>
              <a:buNone/>
              <a:defRPr kumimoji="0" lang="fr-FR" sz="28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Réalisation mise en valeur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28" hasCustomPrompt="1"/>
          </p:nvPr>
        </p:nvSpPr>
        <p:spPr>
          <a:xfrm>
            <a:off x="182562" y="4437063"/>
            <a:ext cx="7875588" cy="2125662"/>
          </a:xfrm>
        </p:spPr>
        <p:txBody>
          <a:bodyPr lIns="0" tIns="180000" rIns="0" bIns="0"/>
          <a:lstStyle>
            <a:lvl1pPr marL="342900" indent="-342900">
              <a:buClr>
                <a:schemeClr val="tx2"/>
              </a:buClr>
              <a:buFont typeface="Avenir LT Std 65 Medium" panose="020B0603020203020204" pitchFamily="34" charset="0"/>
              <a:buChar char="›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Caractéristiques principales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872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3866410" y="2309813"/>
            <a:ext cx="4459189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marL="0" indent="0" algn="ctr">
              <a:buFont typeface="Avenir LT Std 65 Medium" panose="020B0603020203020204" pitchFamily="34" charset="0"/>
              <a:buNone/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Slide de conclusion :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1610992" y="3067840"/>
            <a:ext cx="8970039" cy="584775"/>
          </a:xfrm>
          <a:prstGeom prst="rect">
            <a:avLst/>
          </a:prstGeom>
          <a:solidFill>
            <a:srgbClr val="B81420"/>
          </a:solidFill>
          <a:effectLst/>
        </p:spPr>
        <p:txBody>
          <a:bodyPr wrap="none" lIns="180000" rIns="180000">
            <a:spAutoFit/>
          </a:bodyPr>
          <a:lstStyle>
            <a:lvl1pPr algn="ct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Résumer la </a:t>
            </a:r>
            <a:r>
              <a:rPr lang="fr-FR" dirty="0" err="1" smtClean="0"/>
              <a:t>pres</a:t>
            </a:r>
            <a:r>
              <a:rPr lang="fr-FR" dirty="0" smtClean="0"/>
              <a:t> en une seule phrase courte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3910498" y="3825867"/>
            <a:ext cx="4371023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ct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sur 3 à 4 lignes max</a:t>
            </a:r>
            <a:endParaRPr lang="fr-FR" dirty="0"/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30" hasCustomPrompt="1"/>
          </p:nvPr>
        </p:nvSpPr>
        <p:spPr>
          <a:xfrm>
            <a:off x="2442155" y="4583895"/>
            <a:ext cx="7307725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ctr">
              <a:defRPr kumimoji="0" lang="fr-FR" sz="320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en faisant ressortir certaines lignes</a:t>
            </a:r>
            <a:endParaRPr lang="fr-FR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35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12"/>
          <p:cNvSpPr>
            <a:spLocks noGrp="1"/>
          </p:cNvSpPr>
          <p:nvPr>
            <p:ph type="ftr" sz="quarter" idx="3"/>
          </p:nvPr>
        </p:nvSpPr>
        <p:spPr>
          <a:xfrm>
            <a:off x="144017" y="6569440"/>
            <a:ext cx="11568607" cy="161583"/>
          </a:xfrm>
          <a:prstGeom prst="rect">
            <a:avLst/>
          </a:prstGeom>
        </p:spPr>
        <p:txBody>
          <a:bodyPr/>
          <a:lstStyle>
            <a:lvl1pPr algn="r">
              <a:defRPr sz="1050" cap="none" baseline="0">
                <a:solidFill>
                  <a:schemeClr val="accent5"/>
                </a:solidFill>
              </a:defRPr>
            </a:lvl1pPr>
          </a:lstStyle>
          <a:p>
            <a:r>
              <a:rPr lang="fr-FR" dirty="0" smtClean="0"/>
              <a:t>DSYS/STSF/LSHD | Rafik Zayani| Sep. 2022</a:t>
            </a:r>
            <a:endParaRPr lang="fr-FR" dirty="0"/>
          </a:p>
        </p:txBody>
      </p:sp>
      <p:sp>
        <p:nvSpPr>
          <p:cNvPr id="5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950" y="1257300"/>
            <a:ext cx="11468100" cy="5052020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buClr>
                <a:schemeClr val="accent2"/>
              </a:buClr>
              <a:buSzPct val="125000"/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>
                <a:schemeClr val="accent5"/>
              </a:buClr>
              <a:buSzPct val="125000"/>
              <a:buFont typeface="Arial" panose="020B0604020202020204" pitchFamily="34" charset="0"/>
              <a:buChar char="•"/>
              <a:defRPr sz="1800"/>
            </a:lvl2pPr>
            <a:lvl3pPr marL="1171575" indent="-28575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  <a:defRPr sz="1600"/>
            </a:lvl3pPr>
            <a:lvl4pPr marL="1704975" indent="-287338">
              <a:buClr>
                <a:schemeClr val="accent6"/>
              </a:buClr>
              <a:buSzPct val="125000"/>
              <a:buFont typeface="Arial" pitchFamily="34" charset="0"/>
              <a:buChar char="•"/>
              <a:defRPr sz="1400">
                <a:solidFill>
                  <a:schemeClr val="accent5"/>
                </a:solidFill>
              </a:defRPr>
            </a:lvl4pPr>
            <a:lvl5pPr marL="2152650" indent="-114300">
              <a:buSzPct val="125000"/>
              <a:buFont typeface="Arial" panose="020B0604020202020204" pitchFamily="34" charset="0"/>
              <a:buChar char="•"/>
              <a:defRPr sz="1200" baseline="0"/>
            </a:lvl5pPr>
            <a:lvl6pPr>
              <a:defRPr/>
            </a:lvl6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 smtClean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447800" y="188639"/>
            <a:ext cx="10372725" cy="8136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0132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39023-1FFE-4F68-8CF7-FE7FDE8ADB21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161B9-ABE7-4C18-BB51-BA165D737AC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5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Espace réservé du titre 23"/>
          <p:cNvSpPr>
            <a:spLocks noGrp="1"/>
          </p:cNvSpPr>
          <p:nvPr>
            <p:ph type="title"/>
          </p:nvPr>
        </p:nvSpPr>
        <p:spPr>
          <a:xfrm>
            <a:off x="1176712" y="179389"/>
            <a:ext cx="10839076" cy="815126"/>
          </a:xfrm>
          <a:prstGeom prst="rect">
            <a:avLst/>
          </a:prstGeom>
        </p:spPr>
        <p:txBody>
          <a:bodyPr vert="horz" lIns="180000" tIns="0" rIns="0" bIns="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idx="1"/>
          </p:nvPr>
        </p:nvSpPr>
        <p:spPr>
          <a:xfrm>
            <a:off x="179512" y="2309813"/>
            <a:ext cx="11836276" cy="425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5" y="168506"/>
            <a:ext cx="1012802" cy="82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8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itchFamily="34" charset="0"/>
        <a:buNone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61950" indent="0" algn="l" defTabSz="914400" rtl="0" eaLnBrk="1" latinLnBrk="0" hangingPunct="1">
        <a:lnSpc>
          <a:spcPct val="100000"/>
        </a:lnSpc>
        <a:spcBef>
          <a:spcPts val="0"/>
        </a:spcBef>
        <a:buSzPct val="75000"/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indent="0" algn="l" defTabSz="914400" rtl="0" eaLnBrk="1" latinLnBrk="0" hangingPunct="1">
        <a:lnSpc>
          <a:spcPts val="2000"/>
        </a:lnSpc>
        <a:spcBef>
          <a:spcPts val="0"/>
        </a:spcBef>
        <a:buClr>
          <a:srgbClr val="666666"/>
        </a:buClr>
        <a:buSzPct val="36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19175" indent="0" algn="l" defTabSz="914400" rtl="0" eaLnBrk="1" latinLnBrk="0" hangingPunct="1">
        <a:lnSpc>
          <a:spcPts val="2000"/>
        </a:lnSpc>
        <a:spcBef>
          <a:spcPts val="0"/>
        </a:spcBef>
        <a:buClr>
          <a:srgbClr val="666666"/>
        </a:buClr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108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pos="7569">
          <p15:clr>
            <a:srgbClr val="F26B43"/>
          </p15:clr>
        </p15:guide>
        <p15:guide id="5" pos="2593">
          <p15:clr>
            <a:srgbClr val="5ACBF0"/>
          </p15:clr>
        </p15:guide>
        <p15:guide id="6" pos="5076">
          <p15:clr>
            <a:srgbClr val="5ACBF0"/>
          </p15:clr>
        </p15:guide>
        <p15:guide id="7" orient="horz" pos="1455">
          <p15:clr>
            <a:srgbClr val="5ACBF0"/>
          </p15:clr>
        </p15:guide>
        <p15:guide id="8" orient="horz" pos="113">
          <p15:clr>
            <a:srgbClr val="F26B43"/>
          </p15:clr>
        </p15:guide>
        <p15:guide id="10" orient="horz" pos="2795">
          <p15:clr>
            <a:srgbClr val="5ACBF0"/>
          </p15:clr>
        </p15:guide>
        <p15:guide id="11" pos="2382">
          <p15:clr>
            <a:srgbClr val="FDE53C"/>
          </p15:clr>
        </p15:guide>
        <p15:guide id="12" pos="2704">
          <p15:clr>
            <a:srgbClr val="FDE53C"/>
          </p15:clr>
        </p15:guide>
        <p15:guide id="13" pos="4980">
          <p15:clr>
            <a:srgbClr val="FDE53C"/>
          </p15:clr>
        </p15:guide>
        <p15:guide id="14" pos="5299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7" Type="http://schemas.openxmlformats.org/officeDocument/2006/relationships/image" Target="../media/image1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1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10948138" cy="1587501"/>
          </a:xfrm>
        </p:spPr>
        <p:txBody>
          <a:bodyPr/>
          <a:lstStyle/>
          <a:p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Bussgang</a:t>
            </a:r>
            <a:r>
              <a:rPr lang="en-US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Decomposition</a:t>
            </a:r>
            <a:endParaRPr lang="en-US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06/05/2024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2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Bussgang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/>
              <p:cNvSpPr txBox="1"/>
              <p:nvPr/>
            </p:nvSpPr>
            <p:spPr>
              <a:xfrm>
                <a:off x="8466526" y="1577639"/>
                <a:ext cx="130657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1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5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5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5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1500" dirty="0"/>
              </a:p>
            </p:txBody>
          </p:sp>
        </mc:Choice>
        <mc:Fallback xmlns="">
          <p:sp>
            <p:nvSpPr>
              <p:cNvPr id="58" name="ZoneTexte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526" y="1577639"/>
                <a:ext cx="1306575" cy="323165"/>
              </a:xfrm>
              <a:prstGeom prst="rect">
                <a:avLst/>
              </a:prstGeom>
              <a:blipFill>
                <a:blip r:embed="rId3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/>
              <p:cNvSpPr txBox="1"/>
              <p:nvPr/>
            </p:nvSpPr>
            <p:spPr>
              <a:xfrm>
                <a:off x="284299" y="1657218"/>
                <a:ext cx="6218691" cy="6706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B8142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of 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hardware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scaled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version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plus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distrotion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not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correlated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ZoneTexte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99" y="1657218"/>
                <a:ext cx="6218691" cy="670696"/>
              </a:xfrm>
              <a:prstGeom prst="rect">
                <a:avLst/>
              </a:prstGeom>
              <a:blipFill>
                <a:blip r:embed="rId4"/>
                <a:stretch>
                  <a:fillRect l="-783" t="-4464" r="-685" b="-8929"/>
                </a:stretch>
              </a:blipFill>
              <a:ln>
                <a:solidFill>
                  <a:srgbClr val="B8142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ZoneTexte 61"/>
          <p:cNvSpPr txBox="1"/>
          <p:nvPr/>
        </p:nvSpPr>
        <p:spPr>
          <a:xfrm>
            <a:off x="269842" y="1246358"/>
            <a:ext cx="245875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err="1" smtClean="0"/>
              <a:t>Bussgang’s</a:t>
            </a:r>
            <a:r>
              <a:rPr lang="fr-FR" b="1" dirty="0" smtClean="0"/>
              <a:t> </a:t>
            </a:r>
            <a:r>
              <a:rPr lang="fr-FR" b="1" dirty="0" err="1" smtClean="0"/>
              <a:t>theorem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/>
              <p:cNvSpPr txBox="1"/>
              <p:nvPr/>
            </p:nvSpPr>
            <p:spPr>
              <a:xfrm>
                <a:off x="6653022" y="1835384"/>
                <a:ext cx="51675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i="1" dirty="0" smtClean="0"/>
                  <a:t>Scaled input (</a:t>
                </a:r>
                <a14:m>
                  <m:oMath xmlns:m="http://schemas.openxmlformats.org/officeDocument/2006/math"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b="1" i="1" dirty="0" smtClean="0"/>
                  <a:t>) + uncorrelated distortion (</a:t>
                </a:r>
                <a14:m>
                  <m:oMath xmlns:m="http://schemas.openxmlformats.org/officeDocument/2006/math"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1200" b="1" i="1" dirty="0" smtClean="0"/>
                  <a:t>)</a:t>
                </a:r>
                <a:endParaRPr lang="en-GB" sz="1200" b="1" i="1" dirty="0"/>
              </a:p>
            </p:txBody>
          </p:sp>
        </mc:Choice>
        <mc:Fallback xmlns="">
          <p:sp>
            <p:nvSpPr>
              <p:cNvPr id="63" name="ZoneTexte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022" y="1835384"/>
                <a:ext cx="5167503" cy="276999"/>
              </a:xfrm>
              <a:prstGeom prst="rect">
                <a:avLst/>
              </a:prstGeom>
              <a:blipFill>
                <a:blip r:embed="rId5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580132" y="5319724"/>
                <a:ext cx="1017778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Kx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32" y="5319724"/>
                <a:ext cx="1017778" cy="281937"/>
              </a:xfrm>
              <a:prstGeom prst="rect">
                <a:avLst/>
              </a:prstGeom>
              <a:blipFill>
                <a:blip r:embed="rId6"/>
                <a:stretch>
                  <a:fillRect l="-2395" t="-4348" r="-1796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573913" y="5783360"/>
                <a:ext cx="1069973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13" y="5783360"/>
                <a:ext cx="1069973" cy="281937"/>
              </a:xfrm>
              <a:prstGeom prst="rect">
                <a:avLst/>
              </a:prstGeom>
              <a:blipFill>
                <a:blip r:embed="rId7"/>
                <a:stretch>
                  <a:fillRect l="-2273" t="-4348" r="-170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573913" y="6242058"/>
                <a:ext cx="1089081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  <m:sup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xN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13" y="6242058"/>
                <a:ext cx="1089081" cy="281937"/>
              </a:xfrm>
              <a:prstGeom prst="rect">
                <a:avLst/>
              </a:prstGeom>
              <a:blipFill>
                <a:blip r:embed="rId8"/>
                <a:stretch>
                  <a:fillRect l="-2235" t="-2174" r="-1676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6405734" y="5314784"/>
                <a:ext cx="108658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  <m:sup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xN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734" y="5314784"/>
                <a:ext cx="1086580" cy="281937"/>
              </a:xfrm>
              <a:prstGeom prst="rect">
                <a:avLst/>
              </a:prstGeom>
              <a:blipFill>
                <a:blip r:embed="rId9"/>
                <a:stretch>
                  <a:fillRect l="-2247" t="-2174" r="-168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1607529" y="5319723"/>
            <a:ext cx="3102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Symbols associated with the nth subcarrier</a:t>
            </a:r>
            <a:endParaRPr lang="en-US" sz="1200" dirty="0"/>
          </a:p>
        </p:txBody>
      </p:sp>
      <p:sp>
        <p:nvSpPr>
          <p:cNvPr id="24" name="ZoneTexte 23"/>
          <p:cNvSpPr txBox="1"/>
          <p:nvPr/>
        </p:nvSpPr>
        <p:spPr>
          <a:xfrm>
            <a:off x="1597910" y="5788299"/>
            <a:ext cx="44614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Precoded</a:t>
            </a:r>
            <a:r>
              <a:rPr lang="en-US" sz="1200" dirty="0" smtClean="0"/>
              <a:t> data </a:t>
            </a:r>
            <a:r>
              <a:rPr lang="en-US" sz="1200" dirty="0"/>
              <a:t>vector to be transmitted over the n-</a:t>
            </a:r>
            <a:r>
              <a:rPr lang="en-US" sz="1200" dirty="0" err="1"/>
              <a:t>th</a:t>
            </a:r>
            <a:r>
              <a:rPr lang="en-US" sz="1200" dirty="0"/>
              <a:t> subcarrier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607529" y="6242058"/>
            <a:ext cx="4474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Frequency-domain transmitted signal through the m-</a:t>
            </a:r>
            <a:r>
              <a:rPr lang="en-US" sz="1200" dirty="0" err="1" smtClean="0"/>
              <a:t>th</a:t>
            </a:r>
            <a:r>
              <a:rPr lang="en-US" sz="1200" dirty="0" smtClean="0"/>
              <a:t> antenna</a:t>
            </a:r>
            <a:endParaRPr lang="en-US" sz="1200" dirty="0"/>
          </a:p>
        </p:txBody>
      </p:sp>
      <p:cxnSp>
        <p:nvCxnSpPr>
          <p:cNvPr id="7" name="Connecteur droit 6"/>
          <p:cNvCxnSpPr/>
          <p:nvPr/>
        </p:nvCxnSpPr>
        <p:spPr>
          <a:xfrm flipH="1">
            <a:off x="6243782" y="5234423"/>
            <a:ext cx="1" cy="13798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7492314" y="5319722"/>
            <a:ext cx="4085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Time-domain transmitted signal through the m-</a:t>
            </a:r>
            <a:r>
              <a:rPr lang="en-US" sz="1200" dirty="0" err="1"/>
              <a:t>th</a:t>
            </a:r>
            <a:r>
              <a:rPr lang="en-US" sz="1200" dirty="0"/>
              <a:t> antenna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726" y="2369442"/>
            <a:ext cx="7534375" cy="2635700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6405734" y="5647328"/>
            <a:ext cx="1994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N : </a:t>
            </a:r>
            <a:r>
              <a:rPr lang="en-US" sz="1200" dirty="0"/>
              <a:t>N</a:t>
            </a:r>
            <a:r>
              <a:rPr lang="en-US" sz="1200" dirty="0" smtClean="0"/>
              <a:t>umber of subcarriers </a:t>
            </a:r>
            <a:endParaRPr lang="en-US" sz="1200" dirty="0"/>
          </a:p>
        </p:txBody>
      </p:sp>
      <p:sp>
        <p:nvSpPr>
          <p:cNvPr id="18" name="ZoneTexte 17"/>
          <p:cNvSpPr txBox="1"/>
          <p:nvPr/>
        </p:nvSpPr>
        <p:spPr>
          <a:xfrm>
            <a:off x="6405734" y="5974934"/>
            <a:ext cx="2345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M : </a:t>
            </a:r>
            <a:r>
              <a:rPr lang="en-US" sz="1200" dirty="0"/>
              <a:t>N</a:t>
            </a:r>
            <a:r>
              <a:rPr lang="en-US" sz="1200" dirty="0" smtClean="0"/>
              <a:t>umber of antennas per AP</a:t>
            </a:r>
            <a:endParaRPr lang="en-US" sz="1200" dirty="0"/>
          </a:p>
        </p:txBody>
      </p:sp>
      <p:sp>
        <p:nvSpPr>
          <p:cNvPr id="22" name="ZoneTexte 21"/>
          <p:cNvSpPr txBox="1"/>
          <p:nvPr/>
        </p:nvSpPr>
        <p:spPr>
          <a:xfrm>
            <a:off x="6428177" y="6251933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K</a:t>
            </a:r>
            <a:r>
              <a:rPr lang="en-US" sz="1200" b="1" dirty="0" smtClean="0"/>
              <a:t> : </a:t>
            </a:r>
            <a:r>
              <a:rPr lang="en-US" sz="1200" dirty="0"/>
              <a:t>N</a:t>
            </a:r>
            <a:r>
              <a:rPr lang="en-US" sz="1200" dirty="0" smtClean="0"/>
              <a:t>umber of 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245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Xin,Xout</a:t>
            </a:r>
            <a:r>
              <a:rPr lang="en-US" dirty="0" smtClean="0"/>
              <a:t>), L=1, M=16, K=15</a:t>
            </a:r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311419"/>
            <a:ext cx="9626980" cy="46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Xin,d</a:t>
            </a:r>
            <a:r>
              <a:rPr lang="en-US" dirty="0"/>
              <a:t>), L=1, </a:t>
            </a:r>
            <a:r>
              <a:rPr lang="en-US" dirty="0" smtClean="0"/>
              <a:t>M=16, </a:t>
            </a:r>
            <a:r>
              <a:rPr lang="en-US" dirty="0"/>
              <a:t>K=15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47" y="1301894"/>
            <a:ext cx="9615343" cy="46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1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Xin,Xout</a:t>
            </a:r>
            <a:r>
              <a:rPr lang="en-US" dirty="0" smtClean="0"/>
              <a:t>), L=1, M=100, K=15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325706"/>
            <a:ext cx="9763702" cy="465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Xin,d</a:t>
            </a:r>
            <a:r>
              <a:rPr lang="en-US" dirty="0"/>
              <a:t>), L=1, M=100, K=15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83710"/>
            <a:ext cx="9800359" cy="471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9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4"/>
          <p:cNvSpPr>
            <a:spLocks noGrp="1"/>
          </p:cNvSpPr>
          <p:nvPr>
            <p:ph type="title"/>
          </p:nvPr>
        </p:nvSpPr>
        <p:spPr>
          <a:xfrm>
            <a:off x="1320766" y="344467"/>
            <a:ext cx="10834688" cy="402053"/>
          </a:xfrm>
        </p:spPr>
        <p:txBody>
          <a:bodyPr/>
          <a:lstStyle/>
          <a:p>
            <a:r>
              <a:rPr lang="en-US" dirty="0" smtClean="0"/>
              <a:t>SINR expression</a:t>
            </a:r>
            <a:endParaRPr lang="en-US" dirty="0"/>
          </a:p>
        </p:txBody>
      </p:sp>
      <p:sp>
        <p:nvSpPr>
          <p:cNvPr id="118" name="ZoneTexte 117"/>
          <p:cNvSpPr txBox="1"/>
          <p:nvPr/>
        </p:nvSpPr>
        <p:spPr>
          <a:xfrm>
            <a:off x="8167825" y="118051"/>
            <a:ext cx="204094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ＭＳ Ｐゴシック"/>
                <a:cs typeface="+mn-cs"/>
              </a:rPr>
              <a:t>Distributed operation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ＭＳ Ｐゴシック"/>
              <a:cs typeface="+mn-cs"/>
            </a:endParaRPr>
          </a:p>
        </p:txBody>
      </p:sp>
      <p:grpSp>
        <p:nvGrpSpPr>
          <p:cNvPr id="140" name="Groupe 139"/>
          <p:cNvGrpSpPr/>
          <p:nvPr/>
        </p:nvGrpSpPr>
        <p:grpSpPr>
          <a:xfrm>
            <a:off x="7482836" y="531337"/>
            <a:ext cx="4627897" cy="2321599"/>
            <a:chOff x="7482836" y="387321"/>
            <a:chExt cx="4627897" cy="2321599"/>
          </a:xfrm>
        </p:grpSpPr>
        <p:pic>
          <p:nvPicPr>
            <p:cNvPr id="101" name="Image 100">
              <a:extLst>
                <a:ext uri="{FF2B5EF4-FFF2-40B4-BE49-F238E27FC236}">
                  <a16:creationId xmlns:a16="http://schemas.microsoft.com/office/drawing/2014/main" id="{70CDCF06-FF1D-45BC-8F01-2C61DC7CA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1695433" y="734159"/>
              <a:ext cx="161772" cy="337610"/>
            </a:xfrm>
            <a:prstGeom prst="rect">
              <a:avLst/>
            </a:prstGeom>
          </p:spPr>
        </p:pic>
        <p:pic>
          <p:nvPicPr>
            <p:cNvPr id="102" name="Image 101">
              <a:extLst>
                <a:ext uri="{FF2B5EF4-FFF2-40B4-BE49-F238E27FC236}">
                  <a16:creationId xmlns:a16="http://schemas.microsoft.com/office/drawing/2014/main" id="{70CDCF06-FF1D-45BC-8F01-2C61DC7CA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1948961" y="1430896"/>
              <a:ext cx="161772" cy="337610"/>
            </a:xfrm>
            <a:prstGeom prst="rect">
              <a:avLst/>
            </a:prstGeom>
          </p:spPr>
        </p:pic>
        <p:pic>
          <p:nvPicPr>
            <p:cNvPr id="103" name="Image 102">
              <a:extLst>
                <a:ext uri="{FF2B5EF4-FFF2-40B4-BE49-F238E27FC236}">
                  <a16:creationId xmlns:a16="http://schemas.microsoft.com/office/drawing/2014/main" id="{70CDCF06-FF1D-45BC-8F01-2C61DC7CA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1925185" y="2013827"/>
              <a:ext cx="161772" cy="337610"/>
            </a:xfrm>
            <a:prstGeom prst="rect">
              <a:avLst/>
            </a:prstGeom>
          </p:spPr>
        </p:pic>
        <p:pic>
          <p:nvPicPr>
            <p:cNvPr id="104" name="Image 103">
              <a:extLst>
                <a:ext uri="{FF2B5EF4-FFF2-40B4-BE49-F238E27FC236}">
                  <a16:creationId xmlns:a16="http://schemas.microsoft.com/office/drawing/2014/main" id="{70CDCF06-FF1D-45BC-8F01-2C61DC7CA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1484578" y="2371310"/>
              <a:ext cx="161772" cy="3376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11115143" y="1535587"/>
                  <a:ext cx="722698" cy="43601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fr-FR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fr-FR" sz="20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fr-FR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𝑙</m:t>
                            </m:r>
                            <m:r>
                              <a:rPr kumimoji="0" lang="fr-FR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fr-FR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  <m:sup>
                            <m:r>
                              <a:rPr kumimoji="0" lang="fr-FR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𝐻</m:t>
                            </m:r>
                          </m:sup>
                        </m:sSubSup>
                      </m:oMath>
                    </m:oMathPara>
                  </a14:m>
                  <a:endPara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5143" y="1535587"/>
                  <a:ext cx="722698" cy="4360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2" name="Image 111">
              <a:extLst>
                <a:ext uri="{FF2B5EF4-FFF2-40B4-BE49-F238E27FC236}">
                  <a16:creationId xmlns:a16="http://schemas.microsoft.com/office/drawing/2014/main" id="{958B35AB-2758-4913-A212-BFE5156F4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80444" y="1512112"/>
              <a:ext cx="343585" cy="459492"/>
            </a:xfrm>
            <a:prstGeom prst="rect">
              <a:avLst/>
            </a:prstGeom>
          </p:spPr>
        </p:pic>
        <p:pic>
          <p:nvPicPr>
            <p:cNvPr id="116" name="Image 1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3106" y="1565169"/>
              <a:ext cx="286423" cy="349704"/>
            </a:xfrm>
            <a:prstGeom prst="rect">
              <a:avLst/>
            </a:prstGeom>
          </p:spPr>
        </p:pic>
        <p:cxnSp>
          <p:nvCxnSpPr>
            <p:cNvPr id="9" name="Connecteur droit 8"/>
            <p:cNvCxnSpPr/>
            <p:nvPr/>
          </p:nvCxnSpPr>
          <p:spPr>
            <a:xfrm flipH="1" flipV="1">
              <a:off x="8919529" y="1877683"/>
              <a:ext cx="1003630" cy="27773"/>
            </a:xfrm>
            <a:prstGeom prst="line">
              <a:avLst/>
            </a:prstGeom>
            <a:ln w="19050"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ZoneTexte 78"/>
            <p:cNvSpPr txBox="1"/>
            <p:nvPr/>
          </p:nvSpPr>
          <p:spPr>
            <a:xfrm>
              <a:off x="8541317" y="1908805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ＭＳ Ｐゴシック"/>
                  <a:cs typeface="+mn-cs"/>
                </a:rPr>
                <a:t>CPU</a:t>
              </a:r>
              <a:endPara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ＭＳ Ｐゴシック"/>
                <a:cs typeface="+mn-cs"/>
              </a:endParaRPr>
            </a:p>
          </p:txBody>
        </p:sp>
        <p:sp>
          <p:nvSpPr>
            <p:cNvPr id="117" name="ZoneTexte 116"/>
            <p:cNvSpPr txBox="1"/>
            <p:nvPr/>
          </p:nvSpPr>
          <p:spPr>
            <a:xfrm>
              <a:off x="9862215" y="1946781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ＭＳ Ｐゴシック"/>
                  <a:cs typeface="+mn-cs"/>
                </a:rPr>
                <a:t>AP</a:t>
              </a:r>
              <a:endPara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ＭＳ Ｐゴシック"/>
                <a:cs typeface="+mn-cs"/>
              </a:endParaRPr>
            </a:p>
          </p:txBody>
        </p:sp>
        <p:grpSp>
          <p:nvGrpSpPr>
            <p:cNvPr id="132" name="Groupe 131"/>
            <p:cNvGrpSpPr/>
            <p:nvPr/>
          </p:nvGrpSpPr>
          <p:grpSpPr>
            <a:xfrm>
              <a:off x="10559816" y="1727311"/>
              <a:ext cx="497822" cy="178145"/>
              <a:chOff x="10456069" y="1132936"/>
              <a:chExt cx="497822" cy="178145"/>
            </a:xfrm>
          </p:grpSpPr>
          <p:cxnSp>
            <p:nvCxnSpPr>
              <p:cNvPr id="114" name="Connecteur droit avec flèche 113">
                <a:extLst>
                  <a:ext uri="{FF2B5EF4-FFF2-40B4-BE49-F238E27FC236}">
                    <a16:creationId xmlns:a16="http://schemas.microsoft.com/office/drawing/2014/main" id="{800ADA6F-F379-4EF7-9CCC-C222AE529F1C}"/>
                  </a:ext>
                </a:extLst>
              </p:cNvPr>
              <p:cNvCxnSpPr/>
              <p:nvPr/>
            </p:nvCxnSpPr>
            <p:spPr>
              <a:xfrm>
                <a:off x="10662590" y="1145646"/>
                <a:ext cx="291301" cy="16543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>
                <a:extLst>
                  <a:ext uri="{FF2B5EF4-FFF2-40B4-BE49-F238E27FC236}">
                    <a16:creationId xmlns:a16="http://schemas.microsoft.com/office/drawing/2014/main" id="{3E6A746C-31DF-49DF-8F11-5C5BC05E254A}"/>
                  </a:ext>
                </a:extLst>
              </p:cNvPr>
              <p:cNvCxnSpPr/>
              <p:nvPr/>
            </p:nvCxnSpPr>
            <p:spPr>
              <a:xfrm>
                <a:off x="10456069" y="1132936"/>
                <a:ext cx="149016" cy="10592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Connecteur droit 123">
                <a:extLst>
                  <a:ext uri="{FF2B5EF4-FFF2-40B4-BE49-F238E27FC236}">
                    <a16:creationId xmlns:a16="http://schemas.microsoft.com/office/drawing/2014/main" id="{E07AAA9D-2622-420D-AE3E-AB36D7EB013A}"/>
                  </a:ext>
                </a:extLst>
              </p:cNvPr>
              <p:cNvCxnSpPr/>
              <p:nvPr/>
            </p:nvCxnSpPr>
            <p:spPr>
              <a:xfrm flipH="1">
                <a:off x="10591682" y="1136830"/>
                <a:ext cx="81079" cy="10968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e 130"/>
            <p:cNvGrpSpPr/>
            <p:nvPr/>
          </p:nvGrpSpPr>
          <p:grpSpPr>
            <a:xfrm rot="1767704">
              <a:off x="10543641" y="2143245"/>
              <a:ext cx="424084" cy="175414"/>
              <a:chOff x="10441039" y="1402901"/>
              <a:chExt cx="424084" cy="175414"/>
            </a:xfrm>
          </p:grpSpPr>
          <p:cxnSp>
            <p:nvCxnSpPr>
              <p:cNvPr id="115" name="Connecteur droit avec flèche 114">
                <a:extLst>
                  <a:ext uri="{FF2B5EF4-FFF2-40B4-BE49-F238E27FC236}">
                    <a16:creationId xmlns:a16="http://schemas.microsoft.com/office/drawing/2014/main" id="{6BBE9989-5802-4BA0-ADF8-5B8C88849E5C}"/>
                  </a:ext>
                </a:extLst>
              </p:cNvPr>
              <p:cNvCxnSpPr/>
              <p:nvPr/>
            </p:nvCxnSpPr>
            <p:spPr>
              <a:xfrm rot="17633795">
                <a:off x="10691913" y="1405105"/>
                <a:ext cx="161117" cy="18530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Connecteur droit 122">
                <a:extLst>
                  <a:ext uri="{FF2B5EF4-FFF2-40B4-BE49-F238E27FC236}">
                    <a16:creationId xmlns:a16="http://schemas.microsoft.com/office/drawing/2014/main" id="{2894B4FB-1B18-4FBE-B462-9BD81DF807DF}"/>
                  </a:ext>
                </a:extLst>
              </p:cNvPr>
              <p:cNvCxnSpPr/>
              <p:nvPr/>
            </p:nvCxnSpPr>
            <p:spPr>
              <a:xfrm rot="17633795">
                <a:off x="10444600" y="1399340"/>
                <a:ext cx="122123" cy="1292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Connecteur droit 124">
                <a:extLst>
                  <a:ext uri="{FF2B5EF4-FFF2-40B4-BE49-F238E27FC236}">
                    <a16:creationId xmlns:a16="http://schemas.microsoft.com/office/drawing/2014/main" id="{E07AAA9D-2622-420D-AE3E-AB36D7EB013A}"/>
                  </a:ext>
                </a:extLst>
              </p:cNvPr>
              <p:cNvCxnSpPr/>
              <p:nvPr/>
            </p:nvCxnSpPr>
            <p:spPr>
              <a:xfrm flipH="1" flipV="1">
                <a:off x="10583599" y="1419452"/>
                <a:ext cx="65914" cy="10562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e 132"/>
            <p:cNvGrpSpPr/>
            <p:nvPr/>
          </p:nvGrpSpPr>
          <p:grpSpPr>
            <a:xfrm rot="18910161">
              <a:off x="10596861" y="1252261"/>
              <a:ext cx="368792" cy="200977"/>
              <a:chOff x="10583599" y="703269"/>
              <a:chExt cx="368792" cy="200977"/>
            </a:xfrm>
          </p:grpSpPr>
          <p:cxnSp>
            <p:nvCxnSpPr>
              <p:cNvPr id="113" name="Connecteur droit avec flèche 112">
                <a:extLst>
                  <a:ext uri="{FF2B5EF4-FFF2-40B4-BE49-F238E27FC236}">
                    <a16:creationId xmlns:a16="http://schemas.microsoft.com/office/drawing/2014/main" id="{3F96E6AB-0B7D-4ABF-AF43-31849B671D68}"/>
                  </a:ext>
                </a:extLst>
              </p:cNvPr>
              <p:cNvCxnSpPr/>
              <p:nvPr/>
            </p:nvCxnSpPr>
            <p:spPr>
              <a:xfrm>
                <a:off x="10755794" y="752385"/>
                <a:ext cx="196597" cy="15186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Connecteur droit 120">
                <a:extLst>
                  <a:ext uri="{FF2B5EF4-FFF2-40B4-BE49-F238E27FC236}">
                    <a16:creationId xmlns:a16="http://schemas.microsoft.com/office/drawing/2014/main" id="{1B562A0B-48AC-4B09-A267-DF21AC378A07}"/>
                  </a:ext>
                </a:extLst>
              </p:cNvPr>
              <p:cNvCxnSpPr/>
              <p:nvPr/>
            </p:nvCxnSpPr>
            <p:spPr>
              <a:xfrm>
                <a:off x="10583599" y="703269"/>
                <a:ext cx="149016" cy="10592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Connecteur droit 125">
                <a:extLst>
                  <a:ext uri="{FF2B5EF4-FFF2-40B4-BE49-F238E27FC236}">
                    <a16:creationId xmlns:a16="http://schemas.microsoft.com/office/drawing/2014/main" id="{E07AAA9D-2622-420D-AE3E-AB36D7EB013A}"/>
                  </a:ext>
                </a:extLst>
              </p:cNvPr>
              <p:cNvCxnSpPr/>
              <p:nvPr/>
            </p:nvCxnSpPr>
            <p:spPr>
              <a:xfrm flipH="1">
                <a:off x="10717017" y="753492"/>
                <a:ext cx="39845" cy="5481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4" name="ZoneTexte 133"/>
            <p:cNvSpPr txBox="1"/>
            <p:nvPr/>
          </p:nvSpPr>
          <p:spPr>
            <a:xfrm>
              <a:off x="9099172" y="387321"/>
              <a:ext cx="139814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Channel estimation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T</a:t>
              </a:r>
              <a:r>
                <a:rPr kumimoji="0" lang="fr-F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ransmit </a:t>
              </a:r>
              <a:r>
                <a:rPr kumimoji="0" lang="fr-FR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precoding</a:t>
              </a:r>
              <a:endParaRPr kumimoji="0" lang="fr-F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Power allocation</a:t>
              </a:r>
            </a:p>
          </p:txBody>
        </p:sp>
        <p:sp>
          <p:nvSpPr>
            <p:cNvPr id="135" name="ZoneTexte 134"/>
            <p:cNvSpPr txBox="1"/>
            <p:nvPr/>
          </p:nvSpPr>
          <p:spPr>
            <a:xfrm>
              <a:off x="7482836" y="692800"/>
              <a:ext cx="1080745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Data </a:t>
              </a:r>
              <a:r>
                <a:rPr kumimoji="0" lang="fr-FR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/>
                  <a:cs typeface="Times New Roman" panose="02020603050405020304" pitchFamily="18" charset="0"/>
                </a:rPr>
                <a:t>encoding</a:t>
              </a:r>
              <a:endParaRPr kumimoji="0" lang="fr-F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endParaRPr>
            </a:p>
          </p:txBody>
        </p:sp>
        <p:cxnSp>
          <p:nvCxnSpPr>
            <p:cNvPr id="137" name="Connecteur droit avec flèche 136"/>
            <p:cNvCxnSpPr>
              <a:stCxn id="112" idx="0"/>
            </p:cNvCxnSpPr>
            <p:nvPr/>
          </p:nvCxnSpPr>
          <p:spPr>
            <a:xfrm flipH="1" flipV="1">
              <a:off x="10052236" y="1071769"/>
              <a:ext cx="1" cy="440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Connecteur droit avec flèche 138"/>
            <p:cNvCxnSpPr/>
            <p:nvPr/>
          </p:nvCxnSpPr>
          <p:spPr>
            <a:xfrm flipH="1" flipV="1">
              <a:off x="8015043" y="1003030"/>
              <a:ext cx="558043" cy="4650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ZoneTexte 148"/>
              <p:cNvSpPr txBox="1"/>
              <p:nvPr/>
            </p:nvSpPr>
            <p:spPr>
              <a:xfrm>
                <a:off x="9043806" y="1816572"/>
                <a:ext cx="6070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fr-FR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fr-FR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,…,</m:t>
                      </m:r>
                      <m:sSub>
                        <m:sSubPr>
                          <m:ctrlPr>
                            <a:rPr kumimoji="0" lang="fr-FR" sz="1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1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fr-FR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kumimoji="0" lang="fr-F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ＭＳ Ｐゴシック"/>
                  <a:cs typeface="+mn-cs"/>
                </a:endParaRPr>
              </a:p>
            </p:txBody>
          </p:sp>
        </mc:Choice>
        <mc:Fallback xmlns="">
          <p:sp>
            <p:nvSpPr>
              <p:cNvPr id="149" name="ZoneTexte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806" y="1816572"/>
                <a:ext cx="607026" cy="184666"/>
              </a:xfrm>
              <a:prstGeom prst="rect">
                <a:avLst/>
              </a:prstGeom>
              <a:blipFill>
                <a:blip r:embed="rId7"/>
                <a:stretch>
                  <a:fillRect l="-2020" r="-101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4" name="Image 9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654" y="5220680"/>
            <a:ext cx="6347663" cy="754667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0300" y="2290023"/>
            <a:ext cx="7324725" cy="19240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31664" y="3493671"/>
            <a:ext cx="1366980" cy="7204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09481" y="3493671"/>
            <a:ext cx="1727200" cy="72040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56753" y="3493671"/>
            <a:ext cx="1782619" cy="72040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40972" y="3493671"/>
            <a:ext cx="895927" cy="72040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38500" y="3493671"/>
            <a:ext cx="626526" cy="7204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2"/>
          <p:cNvSpPr txBox="1"/>
          <p:nvPr/>
        </p:nvSpPr>
        <p:spPr>
          <a:xfrm>
            <a:off x="2288169" y="421407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49" name="ZoneTexte 48"/>
          <p:cNvSpPr txBox="1"/>
          <p:nvPr/>
        </p:nvSpPr>
        <p:spPr>
          <a:xfrm>
            <a:off x="3946096" y="421483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50" name="ZoneTexte 49"/>
          <p:cNvSpPr txBox="1"/>
          <p:nvPr/>
        </p:nvSpPr>
        <p:spPr>
          <a:xfrm>
            <a:off x="5903164" y="421407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51" name="ZoneTexte 50"/>
          <p:cNvSpPr txBox="1"/>
          <p:nvPr/>
        </p:nvSpPr>
        <p:spPr>
          <a:xfrm>
            <a:off x="7265021" y="421407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52" name="ZoneTexte 51"/>
          <p:cNvSpPr txBox="1"/>
          <p:nvPr/>
        </p:nvSpPr>
        <p:spPr>
          <a:xfrm>
            <a:off x="8109611" y="421407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Ti,Tj</a:t>
            </a:r>
            <a:r>
              <a:rPr lang="en-US" dirty="0"/>
              <a:t>), L=1, </a:t>
            </a:r>
            <a:r>
              <a:rPr lang="en-US" dirty="0" smtClean="0"/>
              <a:t>M=16, </a:t>
            </a:r>
            <a:r>
              <a:rPr lang="en-US" dirty="0"/>
              <a:t>K=15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419125"/>
              </p:ext>
            </p:extLst>
          </p:nvPr>
        </p:nvGraphicFramePr>
        <p:xfrm>
          <a:off x="692728" y="1530485"/>
          <a:ext cx="11286837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964">
                  <a:extLst>
                    <a:ext uri="{9D8B030D-6E8A-4147-A177-3AD203B41FA5}">
                      <a16:colId xmlns:a16="http://schemas.microsoft.com/office/drawing/2014/main" val="561617350"/>
                    </a:ext>
                  </a:extLst>
                </a:gridCol>
                <a:gridCol w="2048163">
                  <a:extLst>
                    <a:ext uri="{9D8B030D-6E8A-4147-A177-3AD203B41FA5}">
                      <a16:colId xmlns:a16="http://schemas.microsoft.com/office/drawing/2014/main" val="2105482631"/>
                    </a:ext>
                  </a:extLst>
                </a:gridCol>
                <a:gridCol w="2468419">
                  <a:extLst>
                    <a:ext uri="{9D8B030D-6E8A-4147-A177-3AD203B41FA5}">
                      <a16:colId xmlns:a16="http://schemas.microsoft.com/office/drawing/2014/main" val="784648225"/>
                    </a:ext>
                  </a:extLst>
                </a:gridCol>
                <a:gridCol w="2318327">
                  <a:extLst>
                    <a:ext uri="{9D8B030D-6E8A-4147-A177-3AD203B41FA5}">
                      <a16:colId xmlns:a16="http://schemas.microsoft.com/office/drawing/2014/main" val="3801100966"/>
                    </a:ext>
                  </a:extLst>
                </a:gridCol>
                <a:gridCol w="2225964">
                  <a:extLst>
                    <a:ext uri="{9D8B030D-6E8A-4147-A177-3AD203B41FA5}">
                      <a16:colId xmlns:a16="http://schemas.microsoft.com/office/drawing/2014/main" val="1641093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smtClean="0">
                          <a:solidFill>
                            <a:schemeClr val="bg1"/>
                          </a:solidFill>
                        </a:rPr>
                        <a:t>T1</a:t>
                      </a:r>
                      <a:endParaRPr lang="en-US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T2</a:t>
                      </a:r>
                      <a:endParaRPr 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T3</a:t>
                      </a:r>
                      <a:endParaRPr lang="pl-PL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T4</a:t>
                      </a:r>
                      <a:endParaRPr 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T5</a:t>
                      </a:r>
                      <a:endParaRPr lang="pl-PL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2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(1.9046670548270208e-07+0j)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(3.2053437575118266e-12-1.43865118761414e-12j)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(5.018419600390521e-11+3.4697011803216018e-12j)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(-3.6093267808399493e-12-4.311251489624703e-12j)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(1.0027042441232027e-08-6.576279498026842e-09j)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26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(3.2053437575118266e-12 +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1.43865118761414e-12j)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(2.5659359055086946e-13+0j)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(-1.5449506872781216e-14+1.0537373023012146e-13j)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(6.695301563409465e-15+4.9848620915851315e-15j)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(-3.5686062954611836e-12</a:t>
                      </a:r>
                      <a:r>
                        <a:rPr lang="fr-F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-1.2117879335682012e-11j)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18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(5.018419600390521e-11 - 3.4697011803216018e-12j)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(-1.5449506872781216e-14-1.0537373023012146e-13j)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(6.12091430964231e-12+0j)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(-4.610052646526868e-14+2.6362845669585815e-14j)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(9.451975580200676e-12-2.9094488513903735e-12j)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9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(-3.6093267808399493e-12 +4.311251489624703e-12j)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(6.695301563409465e-15-4.9848620915851315e-15j)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(-4.610052646526868e-14-2.6362845669585815e-14j)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(6.288618143897667e-13+0j)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(-8.896172166750855e-12-1.0241220023127633e-12j)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6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(1.0027042441232027e-08+6.576279498026842e-09j)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(-3.5686062954611836e-12+1.2117879335682012e-11j)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(9.451975580200676e-12+2.9094488513903735e-12j)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(-8.896172166750855e-12+1.0241220023127633e-12j)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(1.0376619026406542e-07+0j)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616507"/>
                  </a:ext>
                </a:extLst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164866" y="257824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7" name="ZoneTexte 6"/>
          <p:cNvSpPr txBox="1"/>
          <p:nvPr/>
        </p:nvSpPr>
        <p:spPr>
          <a:xfrm>
            <a:off x="164866" y="317750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64866" y="368717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164866" y="42937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T5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164866" y="197897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4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matrix (</a:t>
            </a:r>
            <a:r>
              <a:rPr lang="en-US" dirty="0" err="1" smtClean="0"/>
              <a:t>Ti,Tj</a:t>
            </a:r>
            <a:r>
              <a:rPr lang="en-US" dirty="0"/>
              <a:t>), L=1, M=100, K=15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491224"/>
              </p:ext>
            </p:extLst>
          </p:nvPr>
        </p:nvGraphicFramePr>
        <p:xfrm>
          <a:off x="692728" y="1530485"/>
          <a:ext cx="11286837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964">
                  <a:extLst>
                    <a:ext uri="{9D8B030D-6E8A-4147-A177-3AD203B41FA5}">
                      <a16:colId xmlns:a16="http://schemas.microsoft.com/office/drawing/2014/main" val="561617350"/>
                    </a:ext>
                  </a:extLst>
                </a:gridCol>
                <a:gridCol w="2048163">
                  <a:extLst>
                    <a:ext uri="{9D8B030D-6E8A-4147-A177-3AD203B41FA5}">
                      <a16:colId xmlns:a16="http://schemas.microsoft.com/office/drawing/2014/main" val="2105482631"/>
                    </a:ext>
                  </a:extLst>
                </a:gridCol>
                <a:gridCol w="2468419">
                  <a:extLst>
                    <a:ext uri="{9D8B030D-6E8A-4147-A177-3AD203B41FA5}">
                      <a16:colId xmlns:a16="http://schemas.microsoft.com/office/drawing/2014/main" val="784648225"/>
                    </a:ext>
                  </a:extLst>
                </a:gridCol>
                <a:gridCol w="2318327">
                  <a:extLst>
                    <a:ext uri="{9D8B030D-6E8A-4147-A177-3AD203B41FA5}">
                      <a16:colId xmlns:a16="http://schemas.microsoft.com/office/drawing/2014/main" val="3801100966"/>
                    </a:ext>
                  </a:extLst>
                </a:gridCol>
                <a:gridCol w="2225964">
                  <a:extLst>
                    <a:ext uri="{9D8B030D-6E8A-4147-A177-3AD203B41FA5}">
                      <a16:colId xmlns:a16="http://schemas.microsoft.com/office/drawing/2014/main" val="1641093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smtClean="0">
                          <a:solidFill>
                            <a:schemeClr val="bg1"/>
                          </a:solidFill>
                        </a:rPr>
                        <a:t>T1</a:t>
                      </a:r>
                      <a:endParaRPr lang="en-US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T2</a:t>
                      </a:r>
                      <a:endParaRPr 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T3</a:t>
                      </a:r>
                      <a:endParaRPr lang="pl-PL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T4</a:t>
                      </a:r>
                      <a:endParaRPr 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T5</a:t>
                      </a:r>
                      <a:endParaRPr lang="pl-PL" sz="15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2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(5.909800377689668e-05+0j)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(-1.1396691567903279e-10+1.8513576841979554e-10j)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(-8.717335897855987e-10-1.2540586074313835e-09j)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(-4.132226371207297e-11+3.959018968476257e-11j)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(-2.6931149693271975e-07+1.0477178007919523e-07j)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26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(-1.1396691567903279e-10-1.8513576841979554e-10j)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(1.91911433667496e-12+0j)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(1.2848872569096113e-13-7.755305664249702e-14j)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(1.2778319102740989e-14+2.8353740193603817e-14j)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(-1.5889888868290784e-11+1.0190663279487865e-11j)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18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(-8.717335897855987e-10+1.2540586074313835e-09j)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(1.2848872569096113e-13+7.755305664249702e-14j)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(4.145145616459971e-11+0j)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(2.0059637206095955e-15-5.098818709186386e-14j)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(1.4820562779423772e-10+1.766730559689165e-10j)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9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(-4.132226371207297e-11-3.959018968476257e-11j)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(1.2778319102740989e-14-2.8353740193603817e-14j)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(2.0059637206095955e-15+5.098818709186386e-14j)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(6.169234787957346e-13+0j)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(-1.8744981153829674e-11+1.7594873119612478e-11j)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6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(-2.6931149693271975e-07-1.0477178007919523e-07j)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(-1.5889888868290784e-11-1.0190663279487865e-11j)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(1.4820562779423772e-10-1.766730559689165e-10j)</a:t>
                      </a:r>
                      <a:endParaRPr lang="pl-PL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(-1.8744981153829674e-11-1.7594873119612478e-11j)</a:t>
                      </a:r>
                      <a:endParaRPr lang="en-US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(5.943223780165973e-07+0j)</a:t>
                      </a:r>
                      <a:endParaRPr lang="pl-PL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616507"/>
                  </a:ext>
                </a:extLst>
              </a:tr>
            </a:tbl>
          </a:graphicData>
        </a:graphic>
      </p:graphicFrame>
      <p:sp>
        <p:nvSpPr>
          <p:cNvPr id="12" name="ZoneTexte 11"/>
          <p:cNvSpPr txBox="1"/>
          <p:nvPr/>
        </p:nvSpPr>
        <p:spPr>
          <a:xfrm>
            <a:off x="164866" y="257824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13" name="ZoneTexte 12"/>
          <p:cNvSpPr txBox="1"/>
          <p:nvPr/>
        </p:nvSpPr>
        <p:spPr>
          <a:xfrm>
            <a:off x="164866" y="325183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164866" y="392541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164866" y="452468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T5</a:t>
            </a:r>
            <a:endParaRPr lang="en-US" dirty="0"/>
          </a:p>
        </p:txBody>
      </p:sp>
      <p:sp>
        <p:nvSpPr>
          <p:cNvPr id="16" name="ZoneTexte 15"/>
          <p:cNvSpPr txBox="1"/>
          <p:nvPr/>
        </p:nvSpPr>
        <p:spPr>
          <a:xfrm>
            <a:off x="164866" y="197897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9820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Presentation Leti">
  <a:themeElements>
    <a:clrScheme name="CEA-Leti2020">
      <a:dk1>
        <a:sysClr val="windowText" lastClr="000000"/>
      </a:dk1>
      <a:lt1>
        <a:srgbClr val="FFFFFF"/>
      </a:lt1>
      <a:dk2>
        <a:srgbClr val="B81420"/>
      </a:dk2>
      <a:lt2>
        <a:srgbClr val="FFFFFF"/>
      </a:lt2>
      <a:accent1>
        <a:srgbClr val="B81420"/>
      </a:accent1>
      <a:accent2>
        <a:srgbClr val="73BE4B"/>
      </a:accent2>
      <a:accent3>
        <a:srgbClr val="FAAF3A"/>
      </a:accent3>
      <a:accent4>
        <a:srgbClr val="312783"/>
      </a:accent4>
      <a:accent5>
        <a:srgbClr val="878787"/>
      </a:accent5>
      <a:accent6>
        <a:srgbClr val="DFDFDF"/>
      </a:accent6>
      <a:hlink>
        <a:srgbClr val="73BE4B"/>
      </a:hlink>
      <a:folHlink>
        <a:srgbClr val="73BE4B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_Leti_16-9.potx" id="{ED517D32-2756-40B6-8A90-9996FF493D63}" vid="{7FA388B1-816F-421E-BF12-928B9B4806EE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435</Words>
  <Application>Microsoft Office PowerPoint</Application>
  <PresentationFormat>Grand écran</PresentationFormat>
  <Paragraphs>112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20" baseType="lpstr">
      <vt:lpstr>ＭＳ Ｐゴシック</vt:lpstr>
      <vt:lpstr>Arial</vt:lpstr>
      <vt:lpstr>Avenir LT Std 65 Medium</vt:lpstr>
      <vt:lpstr>Calibri</vt:lpstr>
      <vt:lpstr>Calibri Light</vt:lpstr>
      <vt:lpstr>Cambria Math</vt:lpstr>
      <vt:lpstr>Roboto</vt:lpstr>
      <vt:lpstr>Times New Roman</vt:lpstr>
      <vt:lpstr>Verdana</vt:lpstr>
      <vt:lpstr>Thème Office</vt:lpstr>
      <vt:lpstr>3_Presentation Leti</vt:lpstr>
      <vt:lpstr>Bussgang Decomposition</vt:lpstr>
      <vt:lpstr>Bussgang Theorem</vt:lpstr>
      <vt:lpstr>Correlation matrix (Xin,Xout), L=1, M=16, K=15</vt:lpstr>
      <vt:lpstr>Correlation matrix (Xin,d), L=1, M=16, K=15</vt:lpstr>
      <vt:lpstr>Correlation matrix (Xin,Xout), L=1, M=100, K=15</vt:lpstr>
      <vt:lpstr>Correlation matrix (Xin,d), L=1, M=100, K=15</vt:lpstr>
      <vt:lpstr>SINR expression</vt:lpstr>
      <vt:lpstr>Correlation matrix (Ti,Tj), L=1, M=16, K=15</vt:lpstr>
      <vt:lpstr>Correlation matrix (Ti,Tj), L=1, M=100, K=15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Bussgang Theorem</dc:title>
  <dc:creator>MABROUK Asma</dc:creator>
  <cp:lastModifiedBy>MABROUK Asma</cp:lastModifiedBy>
  <cp:revision>58</cp:revision>
  <dcterms:created xsi:type="dcterms:W3CDTF">2024-05-03T14:22:24Z</dcterms:created>
  <dcterms:modified xsi:type="dcterms:W3CDTF">2024-05-17T11:14:18Z</dcterms:modified>
</cp:coreProperties>
</file>